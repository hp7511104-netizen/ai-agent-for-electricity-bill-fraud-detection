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83" r:id="rId2"/>
    <p:sldId id="257" r:id="rId3"/>
    <p:sldId id="282" r:id="rId4"/>
    <p:sldId id="285" r:id="rId5"/>
    <p:sldId id="278" r:id="rId6"/>
    <p:sldId id="264" r:id="rId7"/>
    <p:sldId id="286" r:id="rId8"/>
    <p:sldId id="287" r:id="rId9"/>
    <p:sldId id="280" r:id="rId10"/>
    <p:sldId id="288" r:id="rId11"/>
    <p:sldId id="289" r:id="rId12"/>
    <p:sldId id="27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hp7511104@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hp7511104-netizen/AI-Agent-for-Electricity-Bill-Fraud-Detection"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21162559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Patel Het Ashishkumar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hlinkClick r:id="rId3"/>
                        </a:rPr>
                        <a:t>hp7511104@gmail.com</a:t>
                      </a:r>
                      <a:endParaRPr lang="en-US" dirty="0"/>
                    </a:p>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9586613768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solidFill>
                  <a:schemeClr val="tx1"/>
                </a:solidFill>
              </a:rPr>
              <a:t>[Electricity bill ]</a:t>
            </a:r>
            <a:endParaRPr lang="en-IN" sz="2400" b="1" dirty="0">
              <a:solidFill>
                <a:schemeClr val="tx1"/>
              </a:solidFill>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[Electricity bill fraud Detection]</a:t>
            </a:r>
            <a:endParaRPr lang="en-IN" sz="2400" b="1" dirty="0"/>
          </a:p>
        </p:txBody>
      </p:sp>
      <p:pic>
        <p:nvPicPr>
          <p:cNvPr id="5" name="Picture 4">
            <a:extLst>
              <a:ext uri="{FF2B5EF4-FFF2-40B4-BE49-F238E27FC236}">
                <a16:creationId xmlns:a16="http://schemas.microsoft.com/office/drawing/2014/main" id="{51E811A5-DAD0-B3BD-810A-5E0A93FBDE8D}"/>
              </a:ext>
            </a:extLst>
          </p:cNvPr>
          <p:cNvPicPr>
            <a:picLocks noChangeAspect="1"/>
          </p:cNvPicPr>
          <p:nvPr/>
        </p:nvPicPr>
        <p:blipFill>
          <a:blip r:embed="rId4"/>
          <a:stretch>
            <a:fillRect/>
          </a:stretch>
        </p:blipFill>
        <p:spPr>
          <a:xfrm>
            <a:off x="3966505" y="3550726"/>
            <a:ext cx="945741" cy="10738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683834"/>
            <a:ext cx="10607040" cy="6247864"/>
          </a:xfrm>
          <a:prstGeom prst="rect">
            <a:avLst/>
          </a:prstGeom>
          <a:noFill/>
        </p:spPr>
        <p:txBody>
          <a:bodyPr wrap="square" rtlCol="0">
            <a:spAutoFit/>
          </a:bodyPr>
          <a:lstStyle/>
          <a:p>
            <a:pPr algn="just" fontAlgn="base"/>
            <a:endParaRPr lang="en-US" sz="2000" dirty="0"/>
          </a:p>
          <a:p>
            <a:pPr algn="just" fontAlgn="base"/>
            <a:endParaRPr lang="en-US" sz="2000" b="1" dirty="0"/>
          </a:p>
          <a:p>
            <a:pPr algn="just" fontAlgn="base"/>
            <a:r>
              <a:rPr lang="en-US" sz="2000" b="1" dirty="0"/>
              <a:t>The Challenge</a:t>
            </a:r>
            <a:r>
              <a:rPr lang="en-US" sz="2000" dirty="0"/>
              <a:t> </a:t>
            </a:r>
          </a:p>
          <a:p>
            <a:pPr algn="just" fontAlgn="base"/>
            <a:r>
              <a:rPr lang="en-US" sz="2000" dirty="0"/>
              <a:t>Electricity fraud and billing anomalies lead to major financial losses for power distribution companies. With thousands of consumers and massive billing data, detecting suspicious consumption patterns manually is extremely difficult. Utilities need an intelligent Al system that can automatically analyze electricity usage data and identify potential fraud cases.</a:t>
            </a:r>
          </a:p>
          <a:p>
            <a:pPr algn="just" fontAlgn="base"/>
            <a:r>
              <a:rPr lang="en-US" sz="2000" b="1" dirty="0"/>
              <a:t>The Objective</a:t>
            </a:r>
            <a:r>
              <a:rPr lang="en-US" sz="2000" dirty="0"/>
              <a:t> </a:t>
            </a:r>
          </a:p>
          <a:p>
            <a:pPr algn="just"/>
            <a:r>
              <a:rPr lang="en-US" sz="2000" dirty="0"/>
              <a:t>Build an AI Agent for Electricity Bill Fraud Detection that analyzes electricity consumption and billing records to detect abnormal patterns and flag potential fraud cases.</a:t>
            </a:r>
          </a:p>
          <a:p>
            <a:pPr algn="just"/>
            <a:r>
              <a:rPr lang="en-US" sz="2000" dirty="0"/>
              <a:t>The solution should:</a:t>
            </a:r>
          </a:p>
          <a:p>
            <a:pPr algn="just"/>
            <a:r>
              <a:rPr lang="en-US" sz="2000" dirty="0"/>
              <a:t>1. Electricity Consumption Analysis - Analyze consumer electricity usage data to understand normal consumption behavior and trends.</a:t>
            </a:r>
          </a:p>
          <a:p>
            <a:pPr algn="just"/>
            <a:r>
              <a:rPr lang="en-US" sz="2000" dirty="0"/>
              <a:t>2. Fraud Pattern Identification - Detect suspicious activities such as sudden drops in usage, unusual spikes, or inconsistencies between meter readings and billed units.</a:t>
            </a:r>
          </a:p>
          <a:p>
            <a:pPr algn="just"/>
            <a:r>
              <a:rPr lang="en-US" sz="2000" dirty="0"/>
              <a:t>3. AI-Based Anomaly Detection - Automatically identify consumers whose usage patterns significantly deviate from normal historical behavior.</a:t>
            </a:r>
          </a:p>
          <a:p>
            <a:pPr algn="just"/>
            <a:r>
              <a:rPr lang="en-US" sz="2000" dirty="0"/>
              <a:t>4. Explainable AI Insights - Provide clear explanations for why a particular consumer or electricity bill is flagged as suspicious.</a:t>
            </a:r>
          </a:p>
          <a:p>
            <a:pPr algn="just"/>
            <a:r>
              <a:rPr lang="en-US" sz="2000" dirty="0"/>
              <a:t>Tech Stack (Mandatory)</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280333"/>
            <a:ext cx="11124315" cy="954107"/>
          </a:xfrm>
          <a:prstGeom prst="rect">
            <a:avLst/>
          </a:prstGeom>
          <a:noFill/>
        </p:spPr>
        <p:txBody>
          <a:bodyPr wrap="square" rtlCol="0">
            <a:spAutoFit/>
          </a:bodyPr>
          <a:lstStyle/>
          <a:p>
            <a:r>
              <a:rPr lang="en-US" sz="2800" b="1" dirty="0"/>
              <a:t>Problem Statement -  AI Agent for Electricity Bill Fraud Detection</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971859"/>
            <a:ext cx="10607040" cy="3477875"/>
          </a:xfrm>
          <a:prstGeom prst="rect">
            <a:avLst/>
          </a:prstGeom>
          <a:noFill/>
        </p:spPr>
        <p:txBody>
          <a:bodyPr wrap="square" rtlCol="0">
            <a:spAutoFit/>
          </a:bodyPr>
          <a:lstStyle/>
          <a:p>
            <a:pPr algn="just"/>
            <a:endParaRPr lang="en-IN" sz="2000" b="1" dirty="0"/>
          </a:p>
          <a:p>
            <a:pPr algn="just"/>
            <a:endParaRPr lang="en-IN" sz="2000" b="1" dirty="0"/>
          </a:p>
          <a:p>
            <a:pPr algn="just"/>
            <a:r>
              <a:rPr lang="en-IN" sz="2000" dirty="0"/>
              <a:t>We propose an intelligent AI-powered Electricity Bill Fraud Detection Agent that automatically </a:t>
            </a:r>
            <a:r>
              <a:rPr lang="en-IN" sz="2000" dirty="0" err="1"/>
              <a:t>analyzes</a:t>
            </a:r>
            <a:r>
              <a:rPr lang="en-IN" sz="2000" dirty="0"/>
              <a:t> electricity consumption and billing records to identify suspicious usage patterns, detect potential fraud, and provide explainable insights to electricity distribution companies.</a:t>
            </a:r>
          </a:p>
          <a:p>
            <a:pPr algn="just"/>
            <a:r>
              <a:rPr lang="en-IN" sz="2000" dirty="0"/>
              <a:t>The system leverages </a:t>
            </a:r>
            <a:r>
              <a:rPr lang="en-IN" sz="2000" b="1" dirty="0"/>
              <a:t>IBM </a:t>
            </a:r>
            <a:r>
              <a:rPr lang="en-IN" sz="2000" b="1" dirty="0" err="1"/>
              <a:t>Langflow</a:t>
            </a:r>
            <a:r>
              <a:rPr lang="en-IN" sz="2000" b="1" dirty="0"/>
              <a:t> (or IBM Orchestrate)</a:t>
            </a:r>
            <a:r>
              <a:rPr lang="en-IN" sz="2000" dirty="0"/>
              <a:t> to automate the complete fraud detection workflow and </a:t>
            </a:r>
            <a:r>
              <a:rPr lang="en-IN" sz="2000" b="1" dirty="0"/>
              <a:t>IBM Granite Models</a:t>
            </a:r>
            <a:r>
              <a:rPr lang="en-IN" sz="2000" dirty="0"/>
              <a:t> to </a:t>
            </a:r>
            <a:r>
              <a:rPr lang="en-IN" sz="2000" dirty="0" err="1"/>
              <a:t>analyze</a:t>
            </a:r>
            <a:r>
              <a:rPr lang="en-IN" sz="2000" dirty="0"/>
              <a:t> historical consumption data, detect anomalies, generate fraud explanations, and assist utility officers in making informed decisions.</a:t>
            </a:r>
          </a:p>
          <a:p>
            <a:pPr algn="just"/>
            <a:endParaRPr lang="en-IN" sz="20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11039856" cy="954107"/>
          </a:xfrm>
          <a:prstGeom prst="rect">
            <a:avLst/>
          </a:prstGeom>
          <a:noFill/>
        </p:spPr>
        <p:txBody>
          <a:bodyPr wrap="square" rtlCol="0">
            <a:spAutoFit/>
          </a:bodyPr>
          <a:lstStyle/>
          <a:p>
            <a:pPr algn="just"/>
            <a:r>
              <a:rPr lang="en-US" sz="2800" b="1" dirty="0"/>
              <a:t>Proposed Solution - </a:t>
            </a:r>
            <a:r>
              <a:rPr lang="en-IN" sz="2800" b="1" dirty="0"/>
              <a:t>AI-Powered Electricity Bill Fraud Detection Agent</a:t>
            </a: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pPr algn="just"/>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lIns="91440" tIns="45720" rIns="91440" bIns="45720" rtlCol="0" anchor="t">
            <a:spAutoFit/>
          </a:bodyPr>
          <a:lstStyle/>
          <a:p>
            <a:pPr algn="just"/>
            <a:r>
              <a:rPr lang="en-IN" sz="2000" b="1" dirty="0"/>
              <a:t>HTML</a:t>
            </a:r>
            <a:r>
              <a:rPr lang="en-IN" sz="2000" dirty="0"/>
              <a:t> - is the standard markup language used to create the structure and content of web pages, such as headings, paragraphs, images, and links. It forms the foundation of every website.</a:t>
            </a:r>
          </a:p>
          <a:p>
            <a:pPr algn="just"/>
            <a:endParaRPr lang="en-US" sz="2000" dirty="0"/>
          </a:p>
          <a:p>
            <a:pPr algn="just"/>
            <a:r>
              <a:rPr lang="en-US" sz="2000" dirty="0"/>
              <a:t> </a:t>
            </a:r>
            <a:r>
              <a:rPr lang="en-IN" sz="2000" b="1" dirty="0"/>
              <a:t>CSS</a:t>
            </a:r>
            <a:r>
              <a:rPr lang="en-IN" sz="2000" dirty="0"/>
              <a:t> is a stylesheet language used to control the appearance and layout of HTML elements, including </a:t>
            </a:r>
            <a:r>
              <a:rPr lang="en-IN" sz="2000" dirty="0" err="1"/>
              <a:t>colors</a:t>
            </a:r>
            <a:r>
              <a:rPr lang="en-IN" sz="2000" dirty="0"/>
              <a:t>, fonts, spacing, and responsive design, making web pages visually attractive.</a:t>
            </a:r>
          </a:p>
          <a:p>
            <a:pPr algn="just"/>
            <a:endParaRPr lang="en-IN" sz="2000" dirty="0"/>
          </a:p>
          <a:p>
            <a:pPr algn="just"/>
            <a:r>
              <a:rPr lang="en-IN" sz="2000" b="1" dirty="0"/>
              <a:t>JAVASCRIPT - </a:t>
            </a:r>
            <a:r>
              <a:rPr lang="en-IN" sz="2000" dirty="0"/>
              <a:t>is a programming language used to make web pages interactive and dynamic by adding features like buttons, forms, animations, and real-time updates. It works alongside HTML and CSS to create responsive and engaging websites.</a:t>
            </a:r>
          </a:p>
          <a:p>
            <a:pPr algn="just"/>
            <a:endParaRPr lang="en-IN" sz="2000" b="1" dirty="0"/>
          </a:p>
          <a:p>
            <a:pPr algn="just"/>
            <a:r>
              <a:rPr lang="en-US" sz="2000" dirty="0"/>
              <a:t> </a:t>
            </a:r>
          </a:p>
          <a:p>
            <a:pPr algn="just"/>
            <a:endParaRPr lang="en-IN" sz="20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23220"/>
          </a:xfrm>
          <a:prstGeom prst="rect">
            <a:avLst/>
          </a:prstGeom>
          <a:noFill/>
        </p:spPr>
        <p:txBody>
          <a:bodyPr wrap="square" rtlCol="0">
            <a:spAutoFit/>
          </a:bodyPr>
          <a:lstStyle/>
          <a:p>
            <a:pPr algn="just"/>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51289" y="545074"/>
            <a:ext cx="7406640" cy="6247864"/>
          </a:xfrm>
          <a:prstGeom prst="rect">
            <a:avLst/>
          </a:prstGeom>
          <a:noFill/>
        </p:spPr>
        <p:txBody>
          <a:bodyPr wrap="square" rtlCol="0">
            <a:spAutoFit/>
          </a:bodyPr>
          <a:lstStyle/>
          <a:p>
            <a:pPr algn="just"/>
            <a:endParaRPr lang="en-IN" sz="2000" b="1" dirty="0"/>
          </a:p>
          <a:p>
            <a:pPr algn="just"/>
            <a:endParaRPr lang="en-IN" sz="2000" b="1" dirty="0"/>
          </a:p>
          <a:p>
            <a:pPr algn="just"/>
            <a:r>
              <a:rPr lang="en-IN" sz="2000" dirty="0"/>
              <a:t>Agentic AI serves as the intelligent decision-making core of the Electricity Bill Fraud Detection system. Unlike traditional rule-based systems, it autonomously </a:t>
            </a:r>
            <a:r>
              <a:rPr lang="en-IN" sz="2000" dirty="0" err="1"/>
              <a:t>analyzes</a:t>
            </a:r>
            <a:r>
              <a:rPr lang="en-IN" sz="2000" dirty="0"/>
              <a:t> historical electricity consumption, billing records, and meter readings to identify abnormal usage patterns and potential fraud. The AI agent continuously monitors incoming data, detects anomalies such as sudden drops or spikes in consumption, inconsistencies between meter readings and billed units, and assigns a fraud risk score to each consumer. It also generates clear, explainable insights describing why a consumer has been flagged and recommends appropriate actions, such as scheduling a meter inspection or conducting a detailed audit. Using IBM </a:t>
            </a:r>
            <a:r>
              <a:rPr lang="en-IN" sz="2000" dirty="0" err="1"/>
              <a:t>Langflow</a:t>
            </a:r>
            <a:r>
              <a:rPr lang="en-IN" sz="2000" dirty="0"/>
              <a:t> or IBM Orchestrate, the agent automates the complete workflow from data analysis to report generation and alert notifications, reducing manual effort, improving detection accuracy, and enabling faster, data-driven decision making for electricity distribution companies.</a:t>
            </a:r>
          </a:p>
          <a:p>
            <a:pPr algn="just"/>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pPr algn="just"/>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093428"/>
          </a:xfrm>
          <a:prstGeom prst="rect">
            <a:avLst/>
          </a:prstGeom>
          <a:noFill/>
        </p:spPr>
        <p:txBody>
          <a:bodyPr wrap="square" rtlCol="0">
            <a:spAutoFit/>
          </a:bodyPr>
          <a:lstStyle/>
          <a:p>
            <a:pPr algn="just"/>
            <a:r>
              <a:rPr lang="en-IN" sz="2000" dirty="0"/>
              <a:t>Our solution goes beyond traditional rule-based fraud detection by combining </a:t>
            </a:r>
            <a:r>
              <a:rPr lang="en-IN" sz="2000" b="1" dirty="0"/>
              <a:t>Agentic AI</a:t>
            </a:r>
            <a:r>
              <a:rPr lang="en-IN" sz="2000" dirty="0"/>
              <a:t>, </a:t>
            </a:r>
            <a:r>
              <a:rPr lang="en-IN" sz="2000" b="1" dirty="0"/>
              <a:t>IBM Granite Models</a:t>
            </a:r>
            <a:r>
              <a:rPr lang="en-IN" sz="2000" dirty="0"/>
              <a:t>, and </a:t>
            </a:r>
            <a:r>
              <a:rPr lang="en-IN" sz="2000" b="1" dirty="0"/>
              <a:t>IBM </a:t>
            </a:r>
            <a:r>
              <a:rPr lang="en-IN" sz="2000" b="1" dirty="0" err="1"/>
              <a:t>Langflow</a:t>
            </a:r>
            <a:r>
              <a:rPr lang="en-IN" sz="2000" b="1" dirty="0"/>
              <a:t>/IBM Orchestrate</a:t>
            </a:r>
            <a:r>
              <a:rPr lang="en-IN" sz="2000" dirty="0"/>
              <a:t> to create an intelligent, self-operating fraud detection system. Instead of relying on fixed thresholds, the AI continuously learns normal electricity consumption patterns from historical data and automatically detects unusual </a:t>
            </a:r>
            <a:r>
              <a:rPr lang="en-IN" sz="2000" dirty="0" err="1"/>
              <a:t>behavior</a:t>
            </a:r>
            <a:r>
              <a:rPr lang="en-IN" sz="2000" dirty="0"/>
              <a:t> such as sudden usage drops, unexpected spikes, meter-reading inconsistencies, and abnormal billing trends. A key innovation is the use of </a:t>
            </a:r>
            <a:r>
              <a:rPr lang="en-IN" sz="2000" b="1" dirty="0"/>
              <a:t>Explainable AI</a:t>
            </a:r>
            <a:r>
              <a:rPr lang="en-IN" sz="2000" dirty="0"/>
              <a:t>, which provides clear reasons and supporting evidence for every flagged consumer, enabling utility officers to make confident decisions. The system also assigns a dynamic fraud risk score, prioritizes high-risk cases, automates inspection recommendations, and generates detailed reports without manual intervention. This combination of autonomous decision-making, transparent AI explanations, workflow automation, and intelligent risk prioritization makes the proposed solution more accurate, scalable, and efficient than conventional electricity fraud detection systems.</a:t>
            </a:r>
          </a:p>
          <a:p>
            <a:pPr algn="just"/>
            <a:endParaRPr lang="en-IN" sz="2000" dirty="0"/>
          </a:p>
        </p:txBody>
      </p:sp>
    </p:spTree>
    <p:extLst>
      <p:ext uri="{BB962C8B-B14F-4D97-AF65-F5344CB8AC3E}">
        <p14:creationId xmlns:p14="http://schemas.microsoft.com/office/powerpoint/2010/main" val="917964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hlinkClick r:id="rId3"/>
              </a:rPr>
              <a:t>https://github.com/hp7511104-netizen/AI-Agent-for-Electricity-Bill-Fraud-Detection</a:t>
            </a:r>
            <a:endParaRPr lang="en-IN" sz="1850" dirty="0">
              <a:latin typeface="Times New Roman"/>
              <a:ea typeface="Times New Roman"/>
              <a:cs typeface="Times New Roman"/>
              <a:sym typeface="Times New Roman"/>
            </a:endParaRPr>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algn="just"/>
            <a:endParaRPr lang="en-IN" sz="2000" b="1" dirty="0"/>
          </a:p>
          <a:p>
            <a:pPr algn="just"/>
            <a:r>
              <a:rPr lang="en-IN" sz="2000" dirty="0"/>
              <a:t>The proposed AI-powered Electricity Bill Fraud Detection system can be further enhanced by integrating real-time smart meter (IoT) data to detect fraud instantly instead of relying only on monthly billing records. Future versions can incorporate advanced machine learning models that continuously learn from new consumption patterns, improving detection accuracy over time. The solution can also be expanded to predict potential fraud before financial losses occur, integrate with GIS for location-based fraud hotspot analysis, and provide mobile applications for field inspectors with real-time alerts and inspection reports. Additionally, the system can support automated customer notifications, blockchain-based secure meter data management, and predictive maintenance for faulty meters. By connecting with national smart grid infrastructure and utility management systems, the platform can evolve into a comprehensive AI-driven energy monitoring and fraud prevention solution that improves operational efficiency, reduces electricity theft, and supports reliable power distribution on a large scale.</a:t>
            </a:r>
          </a:p>
          <a:p>
            <a:pPr marL="0" marR="0" lvl="0" indent="0" algn="just" rtl="0">
              <a:lnSpc>
                <a:spcPct val="162162"/>
              </a:lnSpc>
              <a:spcBef>
                <a:spcPts val="0"/>
              </a:spcBef>
              <a:spcAft>
                <a:spcPts val="0"/>
              </a:spcAft>
              <a:buClr>
                <a:srgbClr val="2B3541"/>
              </a:buClr>
              <a:buSzPts val="1850"/>
              <a:buFont typeface="Times New Roman"/>
              <a:buNone/>
            </a:pP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50E60482-012F-6C01-A175-55167F4EF1DB}"/>
              </a:ext>
            </a:extLst>
          </p:cNvPr>
          <p:cNvPicPr>
            <a:picLocks noChangeAspect="1"/>
          </p:cNvPicPr>
          <p:nvPr/>
        </p:nvPicPr>
        <p:blipFill>
          <a:blip r:embed="rId2"/>
          <a:stretch>
            <a:fillRect/>
          </a:stretch>
        </p:blipFill>
        <p:spPr>
          <a:xfrm>
            <a:off x="2078294" y="1013971"/>
            <a:ext cx="7562651" cy="563664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8" name="Picture 7">
            <a:extLst>
              <a:ext uri="{FF2B5EF4-FFF2-40B4-BE49-F238E27FC236}">
                <a16:creationId xmlns:a16="http://schemas.microsoft.com/office/drawing/2014/main" id="{D745D9B5-0B3A-4668-E6D1-20A5C2FE052C}"/>
              </a:ext>
            </a:extLst>
          </p:cNvPr>
          <p:cNvPicPr>
            <a:picLocks noChangeAspect="1"/>
          </p:cNvPicPr>
          <p:nvPr/>
        </p:nvPicPr>
        <p:blipFill>
          <a:blip r:embed="rId2"/>
          <a:stretch>
            <a:fillRect/>
          </a:stretch>
        </p:blipFill>
        <p:spPr>
          <a:xfrm>
            <a:off x="1225279" y="903499"/>
            <a:ext cx="9275573" cy="571888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963</Words>
  <Application>Microsoft Office PowerPoint</Application>
  <PresentationFormat>Widescreen</PresentationFormat>
  <Paragraphs>57</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Het patel</cp:lastModifiedBy>
  <cp:revision>16</cp:revision>
  <dcterms:created xsi:type="dcterms:W3CDTF">2025-07-08T05:06:56Z</dcterms:created>
  <dcterms:modified xsi:type="dcterms:W3CDTF">2026-07-11T08:04:57Z</dcterms:modified>
</cp:coreProperties>
</file>